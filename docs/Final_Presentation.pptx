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8" r:id="rId3"/>
    <p:sldId id="257" r:id="rId4"/>
    <p:sldId id="259" r:id="rId5"/>
    <p:sldId id="26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80B795E-7240-49A3-8838-0D33328D9782}" type="doc">
      <dgm:prSet loTypeId="urn:microsoft.com/office/officeart/2018/2/layout/IconLabelList" loCatId="icon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2262CE3C-3E0B-4573-8E5D-322F69E80C1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Evaluating the tradeoffs in power, efficiency and cost in cloud infrastructures.</a:t>
          </a:r>
        </a:p>
      </dgm:t>
    </dgm:pt>
    <dgm:pt modelId="{420736DE-BE97-4EF9-B845-A48FACF4660B}" type="parTrans" cxnId="{CCC3B7B0-9745-40D0-A91A-D796ABF48275}">
      <dgm:prSet/>
      <dgm:spPr/>
      <dgm:t>
        <a:bodyPr/>
        <a:lstStyle/>
        <a:p>
          <a:endParaRPr lang="en-US"/>
        </a:p>
      </dgm:t>
    </dgm:pt>
    <dgm:pt modelId="{CA004573-7FED-4F45-9264-84BA0D6567FE}" type="sibTrans" cxnId="{CCC3B7B0-9745-40D0-A91A-D796ABF48275}">
      <dgm:prSet/>
      <dgm:spPr/>
      <dgm:t>
        <a:bodyPr/>
        <a:lstStyle/>
        <a:p>
          <a:endParaRPr lang="en-US"/>
        </a:p>
      </dgm:t>
    </dgm:pt>
    <dgm:pt modelId="{50946565-56F0-412C-A153-34EFA28AA34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Learning about CloudSim Plus, a framework for creating simulations of cloud computing infrastructures.</a:t>
          </a:r>
        </a:p>
      </dgm:t>
    </dgm:pt>
    <dgm:pt modelId="{02C0DBCF-9990-47BE-94CB-E9D48E40E278}" type="parTrans" cxnId="{1D23F9BA-7804-4AD5-989F-62530703DF3E}">
      <dgm:prSet/>
      <dgm:spPr/>
      <dgm:t>
        <a:bodyPr/>
        <a:lstStyle/>
        <a:p>
          <a:endParaRPr lang="en-US"/>
        </a:p>
      </dgm:t>
    </dgm:pt>
    <dgm:pt modelId="{C9447D7D-343F-47F7-8DC0-18643AE02B5E}" type="sibTrans" cxnId="{1D23F9BA-7804-4AD5-989F-62530703DF3E}">
      <dgm:prSet/>
      <dgm:spPr/>
      <dgm:t>
        <a:bodyPr/>
        <a:lstStyle/>
        <a:p>
          <a:endParaRPr lang="en-US"/>
        </a:p>
      </dgm:t>
    </dgm:pt>
    <dgm:pt modelId="{3FF380DC-C32C-49AD-8B32-AF2F5DB832A2}" type="pres">
      <dgm:prSet presAssocID="{D80B795E-7240-49A3-8838-0D33328D9782}" presName="root" presStyleCnt="0">
        <dgm:presLayoutVars>
          <dgm:dir/>
          <dgm:resizeHandles val="exact"/>
        </dgm:presLayoutVars>
      </dgm:prSet>
      <dgm:spPr/>
    </dgm:pt>
    <dgm:pt modelId="{E52E65E4-9DAA-49F0-AA7C-1B4E99666D8A}" type="pres">
      <dgm:prSet presAssocID="{2262CE3C-3E0B-4573-8E5D-322F69E80C1B}" presName="compNode" presStyleCnt="0"/>
      <dgm:spPr/>
    </dgm:pt>
    <dgm:pt modelId="{BD0B97EF-489B-4280-8691-2024FE7E823D}" type="pres">
      <dgm:prSet presAssocID="{2262CE3C-3E0B-4573-8E5D-322F69E80C1B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C6EBDE88-A738-4F2D-9756-DDC79EEBF276}" type="pres">
      <dgm:prSet presAssocID="{2262CE3C-3E0B-4573-8E5D-322F69E80C1B}" presName="spaceRect" presStyleCnt="0"/>
      <dgm:spPr/>
    </dgm:pt>
    <dgm:pt modelId="{9ABC0F4E-954A-46F2-9487-853C61C4ADF4}" type="pres">
      <dgm:prSet presAssocID="{2262CE3C-3E0B-4573-8E5D-322F69E80C1B}" presName="textRect" presStyleLbl="revTx" presStyleIdx="0" presStyleCnt="2">
        <dgm:presLayoutVars>
          <dgm:chMax val="1"/>
          <dgm:chPref val="1"/>
        </dgm:presLayoutVars>
      </dgm:prSet>
      <dgm:spPr/>
    </dgm:pt>
    <dgm:pt modelId="{5EC7E8AA-F912-4097-94AD-24B9182DEB60}" type="pres">
      <dgm:prSet presAssocID="{CA004573-7FED-4F45-9264-84BA0D6567FE}" presName="sibTrans" presStyleCnt="0"/>
      <dgm:spPr/>
    </dgm:pt>
    <dgm:pt modelId="{1A78975E-28A6-41A6-8123-BDF37955AFF4}" type="pres">
      <dgm:prSet presAssocID="{50946565-56F0-412C-A153-34EFA28AA34E}" presName="compNode" presStyleCnt="0"/>
      <dgm:spPr/>
    </dgm:pt>
    <dgm:pt modelId="{F6C74881-0366-48FE-B1C8-9C822654E2C1}" type="pres">
      <dgm:prSet presAssocID="{50946565-56F0-412C-A153-34EFA28AA34E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1E72662E-E3AA-408D-8BF4-2F585FA0520B}" type="pres">
      <dgm:prSet presAssocID="{50946565-56F0-412C-A153-34EFA28AA34E}" presName="spaceRect" presStyleCnt="0"/>
      <dgm:spPr/>
    </dgm:pt>
    <dgm:pt modelId="{51C6C387-5D41-48CA-A764-5CB3B361C49D}" type="pres">
      <dgm:prSet presAssocID="{50946565-56F0-412C-A153-34EFA28AA34E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44DAA685-7983-4F2A-A48F-E3685674C1A3}" type="presOf" srcId="{2262CE3C-3E0B-4573-8E5D-322F69E80C1B}" destId="{9ABC0F4E-954A-46F2-9487-853C61C4ADF4}" srcOrd="0" destOrd="0" presId="urn:microsoft.com/office/officeart/2018/2/layout/IconLabelList"/>
    <dgm:cxn modelId="{6F8B609A-1458-4DE7-A4FD-57E8FFF3A887}" type="presOf" srcId="{50946565-56F0-412C-A153-34EFA28AA34E}" destId="{51C6C387-5D41-48CA-A764-5CB3B361C49D}" srcOrd="0" destOrd="0" presId="urn:microsoft.com/office/officeart/2018/2/layout/IconLabelList"/>
    <dgm:cxn modelId="{CCC3B7B0-9745-40D0-A91A-D796ABF48275}" srcId="{D80B795E-7240-49A3-8838-0D33328D9782}" destId="{2262CE3C-3E0B-4573-8E5D-322F69E80C1B}" srcOrd="0" destOrd="0" parTransId="{420736DE-BE97-4EF9-B845-A48FACF4660B}" sibTransId="{CA004573-7FED-4F45-9264-84BA0D6567FE}"/>
    <dgm:cxn modelId="{1D23F9BA-7804-4AD5-989F-62530703DF3E}" srcId="{D80B795E-7240-49A3-8838-0D33328D9782}" destId="{50946565-56F0-412C-A153-34EFA28AA34E}" srcOrd="1" destOrd="0" parTransId="{02C0DBCF-9990-47BE-94CB-E9D48E40E278}" sibTransId="{C9447D7D-343F-47F7-8DC0-18643AE02B5E}"/>
    <dgm:cxn modelId="{147504EB-CD95-4E9F-8B78-1DF87FE5D14F}" type="presOf" srcId="{D80B795E-7240-49A3-8838-0D33328D9782}" destId="{3FF380DC-C32C-49AD-8B32-AF2F5DB832A2}" srcOrd="0" destOrd="0" presId="urn:microsoft.com/office/officeart/2018/2/layout/IconLabelList"/>
    <dgm:cxn modelId="{856A6016-7568-4233-ADEF-ED33B7348384}" type="presParOf" srcId="{3FF380DC-C32C-49AD-8B32-AF2F5DB832A2}" destId="{E52E65E4-9DAA-49F0-AA7C-1B4E99666D8A}" srcOrd="0" destOrd="0" presId="urn:microsoft.com/office/officeart/2018/2/layout/IconLabelList"/>
    <dgm:cxn modelId="{7A3F26B1-C13A-4A9B-997B-F442EE6FE1E4}" type="presParOf" srcId="{E52E65E4-9DAA-49F0-AA7C-1B4E99666D8A}" destId="{BD0B97EF-489B-4280-8691-2024FE7E823D}" srcOrd="0" destOrd="0" presId="urn:microsoft.com/office/officeart/2018/2/layout/IconLabelList"/>
    <dgm:cxn modelId="{2C89D036-DAA3-453B-A59B-170547347E00}" type="presParOf" srcId="{E52E65E4-9DAA-49F0-AA7C-1B4E99666D8A}" destId="{C6EBDE88-A738-4F2D-9756-DDC79EEBF276}" srcOrd="1" destOrd="0" presId="urn:microsoft.com/office/officeart/2018/2/layout/IconLabelList"/>
    <dgm:cxn modelId="{9ECBA202-E2DE-466B-A662-B2D0970D1031}" type="presParOf" srcId="{E52E65E4-9DAA-49F0-AA7C-1B4E99666D8A}" destId="{9ABC0F4E-954A-46F2-9487-853C61C4ADF4}" srcOrd="2" destOrd="0" presId="urn:microsoft.com/office/officeart/2018/2/layout/IconLabelList"/>
    <dgm:cxn modelId="{C80904B9-804B-45E3-9900-FFB0B234FD2A}" type="presParOf" srcId="{3FF380DC-C32C-49AD-8B32-AF2F5DB832A2}" destId="{5EC7E8AA-F912-4097-94AD-24B9182DEB60}" srcOrd="1" destOrd="0" presId="urn:microsoft.com/office/officeart/2018/2/layout/IconLabelList"/>
    <dgm:cxn modelId="{D01E9385-3AA5-487B-A5D0-1FB72B522F50}" type="presParOf" srcId="{3FF380DC-C32C-49AD-8B32-AF2F5DB832A2}" destId="{1A78975E-28A6-41A6-8123-BDF37955AFF4}" srcOrd="2" destOrd="0" presId="urn:microsoft.com/office/officeart/2018/2/layout/IconLabelList"/>
    <dgm:cxn modelId="{9EAECB3C-E894-4E3D-9FB6-E36241128827}" type="presParOf" srcId="{1A78975E-28A6-41A6-8123-BDF37955AFF4}" destId="{F6C74881-0366-48FE-B1C8-9C822654E2C1}" srcOrd="0" destOrd="0" presId="urn:microsoft.com/office/officeart/2018/2/layout/IconLabelList"/>
    <dgm:cxn modelId="{7E2E8238-018B-4165-A239-700D3F7391C1}" type="presParOf" srcId="{1A78975E-28A6-41A6-8123-BDF37955AFF4}" destId="{1E72662E-E3AA-408D-8BF4-2F585FA0520B}" srcOrd="1" destOrd="0" presId="urn:microsoft.com/office/officeart/2018/2/layout/IconLabelList"/>
    <dgm:cxn modelId="{AF83EA40-AB59-4F18-9AEE-EDBEF32FE735}" type="presParOf" srcId="{1A78975E-28A6-41A6-8123-BDF37955AFF4}" destId="{51C6C387-5D41-48CA-A764-5CB3B361C4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0B97EF-489B-4280-8691-2024FE7E823D}">
      <dsp:nvSpPr>
        <dsp:cNvPr id="0" name=""/>
        <dsp:cNvSpPr/>
      </dsp:nvSpPr>
      <dsp:spPr>
        <a:xfrm>
          <a:off x="1962518" y="838236"/>
          <a:ext cx="1944000" cy="1944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BC0F4E-954A-46F2-9487-853C61C4ADF4}">
      <dsp:nvSpPr>
        <dsp:cNvPr id="0" name=""/>
        <dsp:cNvSpPr/>
      </dsp:nvSpPr>
      <dsp:spPr>
        <a:xfrm>
          <a:off x="774518" y="325240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Evaluating the tradeoffs in power, efficiency and cost in cloud infrastructures.</a:t>
          </a:r>
        </a:p>
      </dsp:txBody>
      <dsp:txXfrm>
        <a:off x="774518" y="3252400"/>
        <a:ext cx="4320000" cy="720000"/>
      </dsp:txXfrm>
    </dsp:sp>
    <dsp:sp modelId="{F6C74881-0366-48FE-B1C8-9C822654E2C1}">
      <dsp:nvSpPr>
        <dsp:cNvPr id="0" name=""/>
        <dsp:cNvSpPr/>
      </dsp:nvSpPr>
      <dsp:spPr>
        <a:xfrm>
          <a:off x="7038518" y="838236"/>
          <a:ext cx="1944000" cy="1944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C6C387-5D41-48CA-A764-5CB3B361C49D}">
      <dsp:nvSpPr>
        <dsp:cNvPr id="0" name=""/>
        <dsp:cNvSpPr/>
      </dsp:nvSpPr>
      <dsp:spPr>
        <a:xfrm>
          <a:off x="5850518" y="325240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Learning about CloudSim Plus, a framework for creating simulations of cloud computing infrastructures.</a:t>
          </a:r>
        </a:p>
      </dsp:txBody>
      <dsp:txXfrm>
        <a:off x="5850518" y="3252400"/>
        <a:ext cx="432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12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5708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278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052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78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656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484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786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525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405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922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422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01187F7A-920C-B377-65E8-1CF4CBCE3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265FB0-2E0F-895D-5C66-BA518E7DB0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599" y="5293849"/>
            <a:ext cx="7202558" cy="1178688"/>
          </a:xfrm>
        </p:spPr>
        <p:txBody>
          <a:bodyPr anchor="ctr">
            <a:normAutofit/>
          </a:bodyPr>
          <a:lstStyle/>
          <a:p>
            <a:pPr algn="l"/>
            <a:r>
              <a:rPr lang="en-US" sz="2500"/>
              <a:t>Cloud Data Centers: Finding the Balance Between Energy Savings and System Speed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F9B29B-59A4-691C-E7E8-9E13647331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12157" y="5293850"/>
            <a:ext cx="3874124" cy="1178688"/>
          </a:xfrm>
        </p:spPr>
        <p:txBody>
          <a:bodyPr anchor="ctr">
            <a:normAutofit/>
          </a:bodyPr>
          <a:lstStyle/>
          <a:p>
            <a:pPr algn="r"/>
            <a:r>
              <a:rPr lang="en-US"/>
              <a:t>CSCI 6093 – Final Project</a:t>
            </a:r>
          </a:p>
          <a:p>
            <a:pPr algn="r"/>
            <a:r>
              <a:rPr lang="en-US"/>
              <a:t>By: Mirnary Carbajal</a:t>
            </a:r>
          </a:p>
        </p:txBody>
      </p:sp>
      <p:pic>
        <p:nvPicPr>
          <p:cNvPr id="24" name="Picture 23" descr="Geometric white clouds on a blue sky">
            <a:extLst>
              <a:ext uri="{FF2B5EF4-FFF2-40B4-BE49-F238E27FC236}">
                <a16:creationId xmlns:a16="http://schemas.microsoft.com/office/drawing/2014/main" id="{F50344E7-DD78-D449-9308-48E27C59C5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6321"/>
          <a:stretch>
            <a:fillRect/>
          </a:stretch>
        </p:blipFill>
        <p:spPr>
          <a:xfrm>
            <a:off x="20" y="10"/>
            <a:ext cx="12191980" cy="490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966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5E8D3B17-7638-DFD3-18E4-8A6D61174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1A94D9-35C5-4089-4367-12772D2FE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8534" y="603504"/>
            <a:ext cx="5916169" cy="1527048"/>
          </a:xfrm>
        </p:spPr>
        <p:txBody>
          <a:bodyPr anchor="b">
            <a:normAutofit/>
          </a:bodyPr>
          <a:lstStyle/>
          <a:p>
            <a:r>
              <a:rPr lang="en-US" dirty="0"/>
              <a:t>Introduction</a:t>
            </a:r>
          </a:p>
        </p:txBody>
      </p:sp>
      <p:pic>
        <p:nvPicPr>
          <p:cNvPr id="4" name="Picture 3" descr="Geometric white clouds on a blue sky">
            <a:extLst>
              <a:ext uri="{FF2B5EF4-FFF2-40B4-BE49-F238E27FC236}">
                <a16:creationId xmlns:a16="http://schemas.microsoft.com/office/drawing/2014/main" id="{82AE5D0B-DE71-6FCD-1C4C-00DC0EC355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74" r="38627"/>
          <a:stretch>
            <a:fillRect/>
          </a:stretch>
        </p:blipFill>
        <p:spPr>
          <a:xfrm>
            <a:off x="20" y="10"/>
            <a:ext cx="4910308" cy="6857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44967-A852-95A1-C465-D3C67B9402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8533" y="2214282"/>
            <a:ext cx="5916169" cy="4095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Artificial Intelligence (AI) cloud computing infrastructures are known to consume massive amounts of energy to operate. </a:t>
            </a:r>
          </a:p>
          <a:p>
            <a:pPr marL="0" indent="0">
              <a:buNone/>
            </a:pPr>
            <a:r>
              <a:rPr lang="en-US" sz="1800" dirty="0"/>
              <a:t>As national infrastructure continues to build at a rapid pace, the power required to maintain these servers is hitting unprecedented levels. </a:t>
            </a:r>
          </a:p>
          <a:p>
            <a:pPr marL="0" indent="0">
              <a:buNone/>
            </a:pPr>
            <a:r>
              <a:rPr lang="en-US" sz="1800" dirty="0"/>
              <a:t>Reducing this energy footprint is important not only for environmental sustainability, but also for the economic viability of the businesses that rely on these services.</a:t>
            </a:r>
          </a:p>
        </p:txBody>
      </p:sp>
    </p:spTree>
    <p:extLst>
      <p:ext uri="{BB962C8B-B14F-4D97-AF65-F5344CB8AC3E}">
        <p14:creationId xmlns:p14="http://schemas.microsoft.com/office/powerpoint/2010/main" val="197288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Geometric white clouds on a blue sky">
            <a:extLst>
              <a:ext uri="{FF2B5EF4-FFF2-40B4-BE49-F238E27FC236}">
                <a16:creationId xmlns:a16="http://schemas.microsoft.com/office/drawing/2014/main" id="{62E27A7A-3BB5-A86F-75D5-7375C75DB01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463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9938F1-8B88-FEA8-C18E-F6A1D8CEE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Objectives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28B0E8D5-09CD-92C8-CB69-87E41E0A1B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3965226"/>
              </p:ext>
            </p:extLst>
          </p:nvPr>
        </p:nvGraphicFramePr>
        <p:xfrm>
          <a:off x="612648" y="1484768"/>
          <a:ext cx="10945037" cy="48106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80411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eometric white clouds on a blue sky">
            <a:extLst>
              <a:ext uri="{FF2B5EF4-FFF2-40B4-BE49-F238E27FC236}">
                <a16:creationId xmlns:a16="http://schemas.microsoft.com/office/drawing/2014/main" id="{013AB3D7-803D-0FA7-C75A-CCC70CBEDDC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463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49912F-983F-B97E-36BD-9F8FE010E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Background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86B14FC-8EA9-5F48-6216-41BF3054C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553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B65F7F7-2FCE-8F01-53DE-15C39342B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ECB8999-90B0-ECB5-8DC9-0AA433253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1" y="501345"/>
            <a:ext cx="8728364" cy="150852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/>
              <a:t>CloudSim Plus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D4FAAC7-69B0-20CF-96A6-6609C773C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916" y="2663493"/>
            <a:ext cx="8202168" cy="280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92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eometric white clouds on a blue sky">
            <a:extLst>
              <a:ext uri="{FF2B5EF4-FFF2-40B4-BE49-F238E27FC236}">
                <a16:creationId xmlns:a16="http://schemas.microsoft.com/office/drawing/2014/main" id="{6256AA68-4A30-D029-B5A0-4CE7A935AD3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463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C365E2-66CD-1F5B-DBD8-A805ACDC0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A28EA-9EF4-9CA6-8255-BF05CF146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23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eometric white clouds on a blue sky">
            <a:extLst>
              <a:ext uri="{FF2B5EF4-FFF2-40B4-BE49-F238E27FC236}">
                <a16:creationId xmlns:a16="http://schemas.microsoft.com/office/drawing/2014/main" id="{A0E8BD27-074A-A70E-35EE-916E7D8AC29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463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D94263-C351-02E0-95D8-AD6CC68F9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Legacy Data Center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E34AAF-937E-369B-2854-CFF076FF90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C018E2-B9A9-19E9-CB48-F094A3896C7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12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eometric white clouds on a blue sky">
            <a:extLst>
              <a:ext uri="{FF2B5EF4-FFF2-40B4-BE49-F238E27FC236}">
                <a16:creationId xmlns:a16="http://schemas.microsoft.com/office/drawing/2014/main" id="{C57C319B-30C6-64B5-28AD-679246D41D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463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E2DF83-FD21-95A2-2C9D-02F692B62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Modern Data Center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832740-51D3-6414-368A-7CD6D4DDC3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20972F-B353-2E01-215D-2D948E5DA08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565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eometric white clouds on a blue sky">
            <a:extLst>
              <a:ext uri="{FF2B5EF4-FFF2-40B4-BE49-F238E27FC236}">
                <a16:creationId xmlns:a16="http://schemas.microsoft.com/office/drawing/2014/main" id="{BD7329E8-8CF8-E753-3F7F-0FCF971A5F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463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815B40-09D3-369C-5AD8-A39B6A2EE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AI Data Center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B83204-78C3-8755-E5D4-8E9F3B6CFF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F61B43-174B-DA51-7426-0CC142CF442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87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eometric white clouds on a blue sky">
            <a:extLst>
              <a:ext uri="{FF2B5EF4-FFF2-40B4-BE49-F238E27FC236}">
                <a16:creationId xmlns:a16="http://schemas.microsoft.com/office/drawing/2014/main" id="{6201A7DA-660B-EB1F-2DD0-99C7EA7F713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463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7F03C6F-E685-DF19-43DC-7629DD450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Code Snippets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2A60D-F8AB-3BE9-5A79-E54E923466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30BB9B-0ECF-954D-180D-133839FACB8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27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Geometric white clouds on a blue sky">
            <a:extLst>
              <a:ext uri="{FF2B5EF4-FFF2-40B4-BE49-F238E27FC236}">
                <a16:creationId xmlns:a16="http://schemas.microsoft.com/office/drawing/2014/main" id="{65DB2299-9F86-105F-F542-2BB751EFE68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463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91103E-8092-0AEF-AF93-EAC9FED48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Program Output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BD80B6-870B-42CA-67AA-FD2C8EF952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Simplified 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EC66C7-D8C3-78C4-2232-6FE5DF022A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7754114-998C-D916-13F9-4C94FD6A1F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Multi-Host Program in Power BI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30BF1C1-B7C7-24AF-D65D-E4A5DD0DE0A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743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Geometric white clouds on a blue sky">
            <a:extLst>
              <a:ext uri="{FF2B5EF4-FFF2-40B4-BE49-F238E27FC236}">
                <a16:creationId xmlns:a16="http://schemas.microsoft.com/office/drawing/2014/main" id="{FFDCE1C1-EFFF-5FBB-431C-C8E22EBF7B0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463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087E4018-9225-0DAA-8902-7D71D442D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Energy Evaluation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1E1A25-376E-0157-5C8A-44295E042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8813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Geometric white clouds on a blue sky">
            <a:extLst>
              <a:ext uri="{FF2B5EF4-FFF2-40B4-BE49-F238E27FC236}">
                <a16:creationId xmlns:a16="http://schemas.microsoft.com/office/drawing/2014/main" id="{4F17340E-A09F-592B-2741-AFF6D9FE66B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463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6D884160-F284-0447-44B0-C02568A22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Cost Estimations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0A29FB1-B58D-97A9-863A-2844A965B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Operational Costs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C527891-7651-C014-C901-47FA0DCE59C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FA483A7-5549-16DA-9FEA-1F6977300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Hardware Costs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F8CC6FA-C16B-5575-C8F5-E581A23C134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8186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dd-in_Banner">
            <a:extLst>
              <a:ext uri="{FF2B5EF4-FFF2-40B4-BE49-F238E27FC236}">
                <a16:creationId xmlns:a16="http://schemas.microsoft.com/office/drawing/2014/main" id="{9042ACDB-6547-73DE-0AB1-4DEEDE9418F5}"/>
              </a:ext>
            </a:extLst>
          </p:cNvPr>
          <p:cNvSpPr txBox="1">
            <a:spLocks/>
          </p:cNvSpPr>
          <p:nvPr/>
        </p:nvSpPr>
        <p:spPr>
          <a:xfrm>
            <a:off x="0" y="351395"/>
            <a:ext cx="12192000" cy="640515"/>
          </a:xfrm>
          <a:prstGeom prst="rect">
            <a:avLst/>
          </a:prstGeom>
          <a:solidFill>
            <a:srgbClr val="494748">
              <a:alpha val="4706"/>
            </a:srgb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2000" tIns="180000" rIns="216000" bIns="18000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Add-in_Icon" descr="Icon for Microsoft Power BI.">
            <a:extLst>
              <a:ext uri="{FF2B5EF4-FFF2-40B4-BE49-F238E27FC236}">
                <a16:creationId xmlns:a16="http://schemas.microsoft.com/office/drawing/2014/main" id="{C33104BD-3CB2-9B39-A69E-BE71C654E06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400" y="530365"/>
            <a:ext cx="291465" cy="291465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92304E7E-8021-457F-B32A-F77F7A71AA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4615229"/>
                  </p:ext>
                </p:extLst>
              </p:nvPr>
            </p:nvGraphicFramePr>
            <p:xfrm>
              <a:off x="721012" y="1170880"/>
              <a:ext cx="10749976" cy="533572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92304E7E-8021-457F-B32A-F77F7A71AA8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1012" y="1170880"/>
                <a:ext cx="10749976" cy="53357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32711518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webextensions/webextension1.xml><?xml version="1.0" encoding="utf-8"?>
<we:webextension xmlns:we="http://schemas.microsoft.com/office/webextensions/webextension/2010/11" id="{4CBF587E-9A6E-4E75-82BB-971D8E323B0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1YWW/jNhD+K4ZQYFPAKEhJ1pG3jdd9KHoEdbAtUATBkBwp2pVFgaLSeAP/9w4pp93s2nWPwFGNPtmaGQ3n+OYQHwJVdW0N6+9hhcF5cKH1+xWY9xMeTINmoKFAJaNMqQxTiJQEZAlxdWsr3XTB+UNgwZRo31ZdD7VTRMRfrqcB1PUllO6pgLrDadCi6XQDdfUBB2FiWdPjZhrgfVtrA07l0oJFp/aOxOmZTOBfRXQiSFvd4RKlHahKFBgVIWZ5lDAJMsvDjMS6QcBbtlPEqfbHz3VjoWroGEcTEfIceIw8SjPFIc0SL1tUtX0UWS/uW0Pekc/r1gVnTraW2lQS6sB7YbAbjH4I5rruV/7f4gl9qXsj8UcsPKuxlV2TplVf2+qmq+jXh+GG3iBSF2woPJdGU/C83BuwMJljQzZ51q3+dW6QzFDBOdtMf7fstbqDRhL1U7O+Q+h6g89t1yWaQpuVO3NCtMlPYO0OA6+J0lVNWW8h8Ec2rga7Zd135BuqCzDzWzDWYU28o6S6FNDb2ig0F2ufhTeVeYRDOP3EneP6ubl+BCjJvvsIgluEDPYeAxLXG8cuBGQijTmfpaFiqLiK8oNoPjZmrrSFerKgCizXk7NvvvxTQI+t1P46kgfrxgjmHQkYG5AzFbGEQ5YCEwyyBGMuxgfkW6P78rbtd7W8l+vJp11fnaTWi6McEk/wsLeifvbmHS/3ZMcLFTEKzvM4UjSGIGUYZyyG/3er52kvpzCH5nrV1ugkJlfVCidntMSPcRjJGOI8z2bIszDmEDNg7J8Po9dlabAEu31cHAHhi3uUvRdwcb6hMHuJr/tmm3F2UiPiOaE/0myNrUSiXImE81jMqOXPVMq4mI1vXzu8GB3GFhi1ZY2rme5c6p2MkDnkRSilYDKjbTqW2QhT8+9m3WiT8nQjdNw0FaoQYaiQzQTmKX3kyNGlY99kPp3M7N89fDsrQiWiNEvEjCUyjFkS8v/c5nr4U6quJL35cWKCFfUPH2xFur137XBehQNfK89G7/xD8G1Fhw+630LdO7WvLqCr5CsXTD+nOqwfs/uZus5SvOzSW7n0cgeU+0vlrWrn8s4h6IW7I49AKESSYFiIKHa35ZKzWTS6wv6B/ngBmhVz3dnJ2RenVdd7HNz2XiVZHDGWMRYlkNJjfngUjq2sX+6D9NnAM/LL/r0YGtfOPQvzGJGpJEnjhKWYAxvhHalfS0+y1Xzmms+LE9o1T3VvuxYkXkKDOwYhJQMa5ULyN8bfZvMbwSNbWMsdAAA=&quot;"/>
    <we:property name="creatorSessionId" value="&quot;98d78bbe-695e-4608-9584-55f7d8de4993&quot;"/>
    <we:property name="creatorTenantId" value="&quot;56b445ce-91ad-4e6b-af20-6439b7c7da9b&quot;"/>
    <we:property name="creatorUserId" value="&quot;1003200477FF7D14&quot;"/>
    <we:property name="datasetId" value="&quot;1fa5d893-b7c0-4eab-a95e-cef48c28a8d8&quot;"/>
    <we:property name="embedUrl" value="&quot;/reportEmbed?reportId=49c58890-b7c5-42cd-a9f2-f502651d8c61&amp;config=eyJjbHVzdGVyVXJsIjoiaHR0cHM6Ly9XQUJJLVVTLU5PUlRILUNFTlRSQUwtcmVkaXJlY3QuYW5hbHlzaXMud2luZG93cy5uZXQiLCJlbWJlZEZlYXR1cmVzIjp7InVzYWdlTWV0cmljc1ZOZXh0Ijp0cnVlfX0%3D&amp;disableSensitivityBanner=true&amp;storytellingChangeViewModeShortcutKeys=true&quot;"/>
    <we:property name="initialStateBookmark" value="&quot;H4sIAAAAAAAAA+1ZbW/bNhD+K4YwoBlgDKQk6yXfEtf7sC5NUAftgCEIjuTJUSuLAkVlcQP/9x1pp20Wuw6GwFWCfrJFno539zz3Iuk2UGXbVLB4C3MMDoNjrT/NwXwa8GAY1Ou109M3J0fv3ly+PTqZ0LJubKnrNji8DSyYGdr3ZdtB5TTQ4t8XwwCq6gxm7qqAqsVh0KBpdQ1V+RlXwrRlTYfLYYA3TaUNOJVTCxad2msSp2s6m/8W0YkgbXmNU5R2tapEgVERYpZHCZMgszzMSKxdCXjLNoo41f74sa4tlDUd49ZEhDwHHiOP0kxxSLPEyxZlZe9EFpObxpB35POicVE5UtdQS1SBd8Fgu7L4NjhBaDvj/Zjc25jqzkh8h4Xfqm1pF6Rn3lW2vGxL+vVBuKQ7aKkNlhScM6MpdF7uDE2hzdydOaC1wQew1stc6X/GBilyKjhky+EXA8e0NNOmlFA9sHGsq25eP7WJr8HCYIw1BW2DZRe00pb1rFpT4Csa5yuDZdW1dCuqYzDjKzDWcU18JFAdBHS3NgrN8cKj8Lo0d3QIh//xYr8ILC/uCEqyH7+h4BqAlb37iPjF0m0XAjKRxpyP0lAxVFxFee/YfK4tVIMJZeBsMTj449cXyuSVdX0k8wYA+kbkTEUs4ZClwASDLMGYi/4R+crobnbVdN8vxj/z6ynzq5VUerGXTeIeH7Zm1F/evP1hT3b8oCRGwXkeR4raEKQM44zF0LskHut5U6GTGJyXcxwc0CT5wlLmGbSkbSj0rS/JGOI8z0bIszDmEDNg7P9T+mg2MzgDu76c7IFKkxuUnRdwcb6kMHuJ37t6jTj7Sf0t1O8pWn1LkShXIuE8FiOq/iOVMi5Gvav6j5iRdnMLjFpv9auYbpzvnYyQOeRFKKVgMqPBOpZZD6H53lT9jEG5Pxy63TQVqhBhqJCNBOYpPe/I3sHx2Pno+SKzffbwIOURl7FSMmQEE9Uy4EnvQHrkC8Lni9HW92++4xShElGaJWLEEhnGLAn5Toie3SjTVqWkO7/FJZhTifexVqTbe9eszitxta+V30bv/G3wZ0mHr3S/h6pzal8dQ1vKVy6YfpRosboD94G61lK87NRbOfVyO5T7TwBr1c7ljXOKF273PKVAIZIEw0JEsQRkkrNR1Lu0PqU/XoDa+Vi3dnDwy8sqvVscXFdeJVkcMZYxFiWQ0mW+e1rpW1r/uNeAT0aenn+a2cqhfj0WjcI8RmQqSdI4YSnmwHr4Rts/ObzIUvPANY+LE9rUT3Vn2wYknkGNGxohgQG1ciF5XPsbuiCVotrVjN138S/tcrn8F7GKS62iHwAA&quot;"/>
    <we:property name="isFiltersActionButtonVisible" value="true"/>
    <we:property name="isVisualContainerHeaderHidden" value="false"/>
    <we:property name="pageDisplayName" value="&quot;Data Visualizations&quot;"/>
    <we:property name="pageName" value="&quot;dbfe3f2e89360cac8928&quot;"/>
    <we:property name="reportEmbeddedTime" value="&quot;2026-04-24T03:31:56.430Z&quot;"/>
    <we:property name="reportName" value="&quot;AdvSys_Project_BI&quot;"/>
    <we:property name="reportState" value="&quot;CONNECTED&quot;"/>
    <we:property name="reportUrl" value="&quot;/groups/me/reports/49c58890-b7c5-42cd-a9f2-f502651d8c61/dbfe3f2e89360cac8928?bookmarkGuid=a1a67539-85ca-493f-aa23-81614bf54165&amp;bookmarkUsage=1&amp;ctid=56b445ce-91ad-4e6b-af20-6439b7c7da9b&amp;fromEntryPoint=export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156</Words>
  <Application>Microsoft Office PowerPoint</Application>
  <PresentationFormat>Widescreen</PresentationFormat>
  <Paragraphs>25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Neue Haas Grotesk Text Pro</vt:lpstr>
      <vt:lpstr>Segoe UI Light</vt:lpstr>
      <vt:lpstr>VanillaVTI</vt:lpstr>
      <vt:lpstr>Cloud Data Centers: Finding the Balance Between Energy Savings and System Speed</vt:lpstr>
      <vt:lpstr>Introduction</vt:lpstr>
      <vt:lpstr>Objectives</vt:lpstr>
      <vt:lpstr>Background</vt:lpstr>
      <vt:lpstr>CloudSim Plus</vt:lpstr>
      <vt:lpstr>Methodology</vt:lpstr>
      <vt:lpstr>Legacy Data Center</vt:lpstr>
      <vt:lpstr>Modern Data Center</vt:lpstr>
      <vt:lpstr>AI Data Center</vt:lpstr>
      <vt:lpstr>Code Snippets</vt:lpstr>
      <vt:lpstr>Program Output</vt:lpstr>
      <vt:lpstr>Energy Evaluation</vt:lpstr>
      <vt:lpstr>Cost Estimations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Mina Carbajal</dc:creator>
  <cp:lastModifiedBy>Mina Carbajal</cp:lastModifiedBy>
  <cp:revision>17</cp:revision>
  <dcterms:created xsi:type="dcterms:W3CDTF">2026-04-24T02:43:13Z</dcterms:created>
  <dcterms:modified xsi:type="dcterms:W3CDTF">2026-04-25T00:17:53Z</dcterms:modified>
</cp:coreProperties>
</file>